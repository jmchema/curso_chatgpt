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60" r:id="rId7"/>
    <p:sldId id="261" r:id="rId8"/>
    <p:sldId id="262" r:id="rId9"/>
    <p:sldId id="259" r:id="rId10"/>
    <p:sldId id="278" r:id="rId11"/>
    <p:sldId id="263" r:id="rId12"/>
    <p:sldId id="270" r:id="rId13"/>
    <p:sldId id="279" r:id="rId14"/>
    <p:sldId id="266" r:id="rId15"/>
    <p:sldId id="267" r:id="rId16"/>
    <p:sldId id="268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91" d="100"/>
          <a:sy n="91" d="100"/>
        </p:scale>
        <p:origin x="-126" y="-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erplexity.ai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deepseek.com/" TargetMode="External"/><Relationship Id="rId7" Type="http://schemas.openxmlformats.org/officeDocument/2006/relationships/hyperlink" Target="https://claude.ai/" TargetMode="External"/><Relationship Id="rId2" Type="http://schemas.openxmlformats.org/officeDocument/2006/relationships/hyperlink" Target="https://gemini.google.com/ap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meta.ai/" TargetMode="External"/><Relationship Id="rId5" Type="http://schemas.openxmlformats.org/officeDocument/2006/relationships/hyperlink" Target="https://minmax.ai/" TargetMode="External"/><Relationship Id="rId4" Type="http://schemas.openxmlformats.org/officeDocument/2006/relationships/hyperlink" Target="https://chat.qwen.ai/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suno.com/" TargetMode="External"/><Relationship Id="rId3" Type="http://schemas.openxmlformats.org/officeDocument/2006/relationships/hyperlink" Target="https://hix.ai/es" TargetMode="External"/><Relationship Id="rId7" Type="http://schemas.openxmlformats.org/officeDocument/2006/relationships/hyperlink" Target="https://aistudio.google.com/" TargetMode="External"/><Relationship Id="rId2" Type="http://schemas.openxmlformats.org/officeDocument/2006/relationships/hyperlink" Target="https://www.zerogpt.com/e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leonardo.ai/" TargetMode="External"/><Relationship Id="rId4" Type="http://schemas.openxmlformats.org/officeDocument/2006/relationships/hyperlink" Target="https://www.bypassgpt.ai/" TargetMode="External"/><Relationship Id="rId9" Type="http://schemas.openxmlformats.org/officeDocument/2006/relationships/hyperlink" Target="https://gamma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smtClean="0"/>
              <a:t>Introducción a </a:t>
            </a:r>
            <a:r>
              <a:rPr lang="es-ES" dirty="0" smtClean="0"/>
              <a:t>LLM (CHATGPT)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 dirty="0" smtClean="0"/>
              <a:t>Grandes modelos del lenguaje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212975" y="5185954"/>
            <a:ext cx="3361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>
                <a:solidFill>
                  <a:schemeClr val="bg1"/>
                </a:solidFill>
              </a:rPr>
              <a:t>José María Rodríguez Corral</a:t>
            </a:r>
          </a:p>
          <a:p>
            <a:pPr algn="r"/>
            <a:r>
              <a:rPr lang="es-ES" dirty="0" smtClean="0">
                <a:solidFill>
                  <a:schemeClr val="bg1"/>
                </a:solidFill>
              </a:rPr>
              <a:t>jmchema@gmail.com</a:t>
            </a:r>
          </a:p>
        </p:txBody>
      </p:sp>
    </p:spTree>
    <p:extLst>
      <p:ext uri="{BB962C8B-B14F-4D97-AF65-F5344CB8AC3E}">
        <p14:creationId xmlns:p14="http://schemas.microsoft.com/office/powerpoint/2010/main" val="87325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912430" cy="3286509"/>
          </a:xfrm>
        </p:spPr>
        <p:txBody>
          <a:bodyPr/>
          <a:lstStyle/>
          <a:p>
            <a:r>
              <a:rPr lang="es-ES" dirty="0"/>
              <a:t>Presentación de la </a:t>
            </a:r>
            <a:r>
              <a:rPr lang="es-ES" dirty="0" smtClean="0"/>
              <a:t>interfaz</a:t>
            </a:r>
          </a:p>
          <a:p>
            <a:r>
              <a:rPr lang="es-ES" dirty="0" smtClean="0"/>
              <a:t>Usos</a:t>
            </a:r>
          </a:p>
          <a:p>
            <a:r>
              <a:rPr lang="es-ES" dirty="0" smtClean="0"/>
              <a:t>¿Qué puede hacer?</a:t>
            </a:r>
          </a:p>
          <a:p>
            <a:r>
              <a:rPr lang="es-ES" dirty="0" smtClean="0"/>
              <a:t>Limitaciones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Presentación del curso</a:t>
            </a:r>
          </a:p>
          <a:p>
            <a:r>
              <a:rPr lang="es-ES" dirty="0" smtClean="0"/>
              <a:t>Definiciones</a:t>
            </a:r>
          </a:p>
          <a:p>
            <a:r>
              <a:rPr lang="es-ES" dirty="0" smtClean="0"/>
              <a:t>Como funciona</a:t>
            </a:r>
          </a:p>
          <a:p>
            <a:r>
              <a:rPr lang="es-ES" dirty="0" smtClean="0"/>
              <a:t>Evolución</a:t>
            </a:r>
          </a:p>
          <a:p>
            <a:r>
              <a:rPr lang="es-ES" dirty="0"/>
              <a:t>Conceptos clave</a:t>
            </a:r>
          </a:p>
          <a:p>
            <a:pPr marL="0" indent="0">
              <a:buNone/>
            </a:pP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1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416042" cy="3678303"/>
          </a:xfrm>
        </p:spPr>
        <p:txBody>
          <a:bodyPr/>
          <a:lstStyle/>
          <a:p>
            <a:pPr lvl="0"/>
            <a:r>
              <a:rPr lang="es-ES" dirty="0"/>
              <a:t>Tipos de </a:t>
            </a:r>
            <a:r>
              <a:rPr lang="es-ES" dirty="0" err="1"/>
              <a:t>prompt</a:t>
            </a:r>
            <a:endParaRPr lang="es-ES" dirty="0"/>
          </a:p>
          <a:p>
            <a:pPr lvl="0"/>
            <a:r>
              <a:rPr lang="es-ES" dirty="0"/>
              <a:t>Formatos de </a:t>
            </a:r>
            <a:r>
              <a:rPr lang="es-ES" dirty="0" smtClean="0"/>
              <a:t>respuesta</a:t>
            </a:r>
          </a:p>
          <a:p>
            <a:pPr lvl="0"/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Instructions</a:t>
            </a:r>
            <a:endParaRPr lang="es-ES" dirty="0" smtClean="0"/>
          </a:p>
          <a:p>
            <a:pPr lvl="0"/>
            <a:r>
              <a:rPr lang="es-ES" dirty="0" smtClean="0"/>
              <a:t>Alternativas</a:t>
            </a:r>
            <a:endParaRPr lang="es-ES" dirty="0"/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Repaso básico</a:t>
            </a:r>
          </a:p>
          <a:p>
            <a:r>
              <a:rPr lang="es-ES" dirty="0" smtClean="0"/>
              <a:t>Tipos de tareas</a:t>
            </a:r>
          </a:p>
          <a:p>
            <a:r>
              <a:rPr lang="es-ES" dirty="0" smtClean="0"/>
              <a:t>Usos principales</a:t>
            </a:r>
          </a:p>
          <a:p>
            <a:r>
              <a:rPr lang="es-ES" dirty="0" smtClean="0"/>
              <a:t>Relacionarse: </a:t>
            </a:r>
            <a:r>
              <a:rPr lang="es-ES" dirty="0" err="1" smtClean="0"/>
              <a:t>Prompts</a:t>
            </a: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2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179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Presentación del curso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091058"/>
          </a:xfrm>
        </p:spPr>
        <p:txBody>
          <a:bodyPr/>
          <a:lstStyle/>
          <a:p>
            <a:r>
              <a:rPr lang="es-ES" dirty="0" smtClean="0"/>
              <a:t>Curso: introducción </a:t>
            </a:r>
            <a:r>
              <a:rPr lang="es-ES" dirty="0" err="1" smtClean="0"/>
              <a:t>ChatGTP</a:t>
            </a:r>
            <a:endParaRPr lang="es-ES" dirty="0" smtClean="0"/>
          </a:p>
          <a:p>
            <a:r>
              <a:rPr lang="es-ES" dirty="0" smtClean="0"/>
              <a:t>Duración: 6 horas</a:t>
            </a:r>
          </a:p>
          <a:p>
            <a:r>
              <a:rPr lang="es-ES" dirty="0" smtClean="0"/>
              <a:t>Horario: 16:00 – 19:00</a:t>
            </a:r>
          </a:p>
          <a:p>
            <a:r>
              <a:rPr lang="es-ES" dirty="0" smtClean="0"/>
              <a:t>Días: </a:t>
            </a:r>
            <a:r>
              <a:rPr lang="es-ES" dirty="0" smtClean="0"/>
              <a:t>6 </a:t>
            </a:r>
            <a:r>
              <a:rPr lang="es-ES" dirty="0" smtClean="0"/>
              <a:t>y </a:t>
            </a:r>
            <a:r>
              <a:rPr lang="es-ES" dirty="0"/>
              <a:t>7</a:t>
            </a:r>
            <a:r>
              <a:rPr lang="es-ES" dirty="0" smtClean="0"/>
              <a:t> </a:t>
            </a:r>
            <a:r>
              <a:rPr lang="es-ES" dirty="0" smtClean="0"/>
              <a:t>de Junio</a:t>
            </a:r>
          </a:p>
          <a:p>
            <a:r>
              <a:rPr lang="es-ES" dirty="0" smtClean="0"/>
              <a:t>Objetivo: introducir al mundo de los LLM enfocado en </a:t>
            </a:r>
            <a:r>
              <a:rPr lang="es-ES" dirty="0" err="1" smtClean="0"/>
              <a:t>ChatGPT</a:t>
            </a:r>
            <a:endParaRPr lang="es-ES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744583" y="4545874"/>
            <a:ext cx="1030659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 smtClean="0"/>
              <a:t>¿Qué esperáis del curso?</a:t>
            </a:r>
            <a:endParaRPr lang="es-ES" sz="66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675" y="1910215"/>
            <a:ext cx="2631621" cy="263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3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Definiciones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276808" cy="4128864"/>
          </a:xfrm>
        </p:spPr>
        <p:txBody>
          <a:bodyPr/>
          <a:lstStyle/>
          <a:p>
            <a:pPr marL="0" indent="0">
              <a:buNone/>
            </a:pP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Language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 </a:t>
            </a:r>
            <a:endParaRPr lang="es-ES" dirty="0" smtClean="0"/>
          </a:p>
          <a:p>
            <a:pPr marL="0" indent="0">
              <a:buNone/>
            </a:pPr>
            <a:r>
              <a:rPr lang="es-ES" dirty="0" smtClean="0"/>
              <a:t>Un </a:t>
            </a:r>
            <a:r>
              <a:rPr lang="es-ES" dirty="0"/>
              <a:t>Modelo de Lenguaje de Gran Tamaño (LLM, por sus siglas en inglés </a:t>
            </a: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Language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) es un tipo de inteligencia artificial basada en redes neuronales profundas, entrenada con enormes volúmenes de texto para comprender y generar lenguaje humano de manera coherente y contextual.</a:t>
            </a:r>
            <a:r>
              <a:rPr lang="es-ES" dirty="0" smtClean="0"/>
              <a:t>​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957" y="1929221"/>
            <a:ext cx="4514850" cy="451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18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525002" cy="4233367"/>
          </a:xfrm>
        </p:spPr>
        <p:txBody>
          <a:bodyPr/>
          <a:lstStyle/>
          <a:p>
            <a:pPr marL="0" indent="0">
              <a:buNone/>
            </a:pPr>
            <a:r>
              <a:rPr lang="es-ES" dirty="0" smtClean="0"/>
              <a:t>Redes neuronales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tipo de inteligencia artificial que trata de imitar cómo funciona el cerebro humano para que una máquina pueda aprender por sí sola</a:t>
            </a:r>
            <a:r>
              <a:rPr lang="es-ES" dirty="0" smtClean="0"/>
              <a:t>. Está </a:t>
            </a:r>
            <a:r>
              <a:rPr lang="es-ES" dirty="0"/>
              <a:t>formada por muchos "nodos" conectados entre sí (como neuronas artificiales), que trabajan juntos para reconocer patrones y tomar decisiones. Cuantos más datos ve, mejor aprende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r>
              <a:rPr lang="es-ES" dirty="0"/>
              <a:t>Una red neuronal es como un pequeño cerebro artificial que ayuda a las máquinas a aprender mirando ejemplos.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01" y="2075992"/>
            <a:ext cx="4229829" cy="422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6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4474134" cy="4102738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Aprendizaje </a:t>
            </a:r>
            <a:r>
              <a:rPr lang="es-ES" dirty="0" smtClean="0"/>
              <a:t>profundo</a:t>
            </a:r>
          </a:p>
          <a:p>
            <a:pPr marL="0" indent="0">
              <a:buNone/>
            </a:pPr>
            <a:r>
              <a:rPr lang="es-ES" dirty="0"/>
              <a:t>C</a:t>
            </a:r>
            <a:r>
              <a:rPr lang="es-ES" dirty="0" smtClean="0"/>
              <a:t>onsiste </a:t>
            </a:r>
            <a:r>
              <a:rPr lang="es-ES" dirty="0"/>
              <a:t>en redes neuronales artificiales con múltiples capas para procesar grandes cantidades de datos y reconocer patrones </a:t>
            </a:r>
            <a:r>
              <a:rPr lang="es-ES" dirty="0" smtClean="0"/>
              <a:t>complejos.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El aprendizaje profundo es como enseñarle a un robot a hacer cosas súper difíciles, aprendiendo poquito a poquito, en muchos pasos.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330" y="1847986"/>
            <a:ext cx="65151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790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5"/>
            <a:ext cx="7086705" cy="3750041"/>
          </a:xfrm>
        </p:spPr>
        <p:txBody>
          <a:bodyPr/>
          <a:lstStyle/>
          <a:p>
            <a:pPr marL="0" indent="0">
              <a:buNone/>
            </a:pPr>
            <a:r>
              <a:rPr lang="es-ES" dirty="0" err="1" smtClean="0"/>
              <a:t>Tranformer</a:t>
            </a:r>
            <a:r>
              <a:rPr lang="es-ES" dirty="0" smtClean="0"/>
              <a:t>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modelo de inteligencia artificial que entiende el contexto completo de un texto, no solo lo que viene antes, sino también lo que viene después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Un </a:t>
            </a:r>
            <a:r>
              <a:rPr lang="es-ES" dirty="0" err="1"/>
              <a:t>Transformer</a:t>
            </a:r>
            <a:r>
              <a:rPr lang="es-ES" dirty="0"/>
              <a:t> es un robot muy listo que entiende todo lo que dices mirando todas las palabras a la vez, como un detective.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628" y="866156"/>
            <a:ext cx="3707180" cy="556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591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¿Como Funcionan?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33858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Durante su entrenamiento, los LLM aprenden a predecir la siguiente palabra en una secuencia, basándose en el contexto previo. Este proceso les permite captar patrones lingüísticos, semánticos y sintácticos, lo que resulta en una capacidad notable para generar texto fluido y </a:t>
            </a:r>
            <a:r>
              <a:rPr lang="es-ES" dirty="0" smtClean="0"/>
              <a:t>relevante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581192" y="3631474"/>
            <a:ext cx="10724605" cy="1597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dirty="0">
                <a:solidFill>
                  <a:schemeClr val="tx2"/>
                </a:solidFill>
              </a:rPr>
              <a:t>Leen millones de libros, cuentos, correos, conversaciones, recetas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dirty="0">
                <a:solidFill>
                  <a:schemeClr val="tx2"/>
                </a:solidFill>
              </a:rPr>
              <a:t>Aprenden a adivinar palabras. 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dirty="0">
                <a:solidFill>
                  <a:schemeClr val="tx2"/>
                </a:solidFill>
              </a:rPr>
              <a:t>Conectan palabras entre sí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dirty="0">
                <a:solidFill>
                  <a:schemeClr val="tx2"/>
                </a:solidFill>
              </a:rPr>
              <a:t>Pueden hablar contigo.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714895" y="5444836"/>
            <a:ext cx="9443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platform.openai.com/tokenizer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16969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8275424" cy="4520750"/>
          </a:xfrm>
        </p:spPr>
        <p:txBody>
          <a:bodyPr/>
          <a:lstStyle/>
          <a:p>
            <a:r>
              <a:rPr lang="es-ES" dirty="0" smtClean="0"/>
              <a:t>1950: Alan Turing. ¿Puede pensar una máquina?</a:t>
            </a:r>
          </a:p>
          <a:p>
            <a:r>
              <a:rPr lang="es-ES" dirty="0" smtClean="0"/>
              <a:t>1966: </a:t>
            </a:r>
            <a:r>
              <a:rPr lang="es-ES" dirty="0"/>
              <a:t>Aparece Eliza. </a:t>
            </a:r>
            <a:r>
              <a:rPr lang="es-ES" dirty="0" smtClean="0"/>
              <a:t>Simulaba </a:t>
            </a:r>
            <a:r>
              <a:rPr lang="es-ES" dirty="0"/>
              <a:t>ser un terapeuta mediante respuestas sencillas basadas en </a:t>
            </a:r>
            <a:r>
              <a:rPr lang="es-ES" dirty="0" smtClean="0"/>
              <a:t>reglas</a:t>
            </a:r>
          </a:p>
          <a:p>
            <a:r>
              <a:rPr lang="es-ES" dirty="0" smtClean="0"/>
              <a:t>1990-2000: comienza a usarse la estadística de forma masiva pare predecir palabras basándose en el contexto. Los n-gramas. Sistemas de traducción automática.</a:t>
            </a:r>
          </a:p>
          <a:p>
            <a:r>
              <a:rPr lang="es-ES" dirty="0" smtClean="0"/>
              <a:t>2010: Llega el Deep </a:t>
            </a:r>
            <a:r>
              <a:rPr lang="es-ES" dirty="0" err="1" smtClean="0"/>
              <a:t>Learning</a:t>
            </a:r>
            <a:r>
              <a:rPr lang="es-ES" dirty="0" smtClean="0"/>
              <a:t>. Se crear redes neuronales profundas</a:t>
            </a:r>
          </a:p>
          <a:p>
            <a:r>
              <a:rPr lang="es-ES" dirty="0" smtClean="0"/>
              <a:t>2013: Aparece las representaciones vectoriales de la palabras, </a:t>
            </a:r>
            <a:r>
              <a:rPr lang="es-ES" dirty="0" err="1" smtClean="0"/>
              <a:t>embeddings</a:t>
            </a:r>
            <a:r>
              <a:rPr lang="es-ES" dirty="0" smtClean="0"/>
              <a:t>. Word2vec.</a:t>
            </a:r>
          </a:p>
          <a:p>
            <a:r>
              <a:rPr lang="es-ES" dirty="0" smtClean="0"/>
              <a:t>2015: Usos masivo de los modelos RNN y LSTM</a:t>
            </a:r>
          </a:p>
          <a:p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618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00" y="2010269"/>
            <a:ext cx="5268146" cy="4385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346" y="2435399"/>
            <a:ext cx="5705393" cy="3797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475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Conceptos clave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smtClean="0"/>
              <a:t>Ventana </a:t>
            </a:r>
            <a:r>
              <a:rPr lang="es-ES" b="1" dirty="0"/>
              <a:t>de contexto</a:t>
            </a:r>
            <a:r>
              <a:rPr lang="es-ES" dirty="0"/>
              <a:t>: es la cantidad máxima de texto (</a:t>
            </a:r>
            <a:r>
              <a:rPr lang="es-ES" dirty="0" err="1"/>
              <a:t>tokens</a:t>
            </a:r>
            <a:r>
              <a:rPr lang="es-ES" dirty="0"/>
              <a:t>) que un modelo de lenguaje puede "ver" o procesar al mismo tiempo para generar una respuesta.</a:t>
            </a:r>
            <a:endParaRPr lang="es-ES" dirty="0" smtClean="0"/>
          </a:p>
          <a:p>
            <a:r>
              <a:rPr lang="es-ES" b="1" dirty="0"/>
              <a:t>Alucinaciones</a:t>
            </a:r>
            <a:r>
              <a:rPr lang="es-ES" dirty="0"/>
              <a:t>: </a:t>
            </a:r>
            <a:r>
              <a:rPr lang="es-ES" dirty="0" smtClean="0"/>
              <a:t>ocurren </a:t>
            </a:r>
            <a:r>
              <a:rPr lang="es-ES" dirty="0"/>
              <a:t>cuando un modelo de lenguaje como </a:t>
            </a:r>
            <a:r>
              <a:rPr lang="es-ES" dirty="0" err="1"/>
              <a:t>ChatGPT</a:t>
            </a:r>
            <a:r>
              <a:rPr lang="es-ES" dirty="0"/>
              <a:t> genera una respuesta que parece correcta, pero es falsa, inventada o inexacta.</a:t>
            </a:r>
            <a:endParaRPr lang="es-ES" dirty="0" smtClean="0"/>
          </a:p>
          <a:p>
            <a:r>
              <a:rPr lang="es-ES" b="1" dirty="0" err="1" smtClean="0"/>
              <a:t>Dataset</a:t>
            </a:r>
            <a:r>
              <a:rPr lang="es-ES" b="1" dirty="0" smtClean="0"/>
              <a:t> </a:t>
            </a:r>
            <a:r>
              <a:rPr lang="es-ES" b="1" dirty="0"/>
              <a:t>de entrenamiento</a:t>
            </a:r>
            <a:r>
              <a:rPr lang="es-ES" dirty="0"/>
              <a:t>:  conjunto de datos que se usa para enseñar a un modelo de inteligencia artificial a realizar una tarea, como comprender y generar </a:t>
            </a:r>
            <a:r>
              <a:rPr lang="es-ES" dirty="0" smtClean="0"/>
              <a:t>lenguaje</a:t>
            </a:r>
          </a:p>
          <a:p>
            <a:r>
              <a:rPr lang="es-ES" b="1" dirty="0"/>
              <a:t>Fine-</a:t>
            </a:r>
            <a:r>
              <a:rPr lang="es-ES" b="1" dirty="0" err="1"/>
              <a:t>tuning</a:t>
            </a:r>
            <a:r>
              <a:rPr lang="es-ES" b="1" dirty="0"/>
              <a:t> (ajuste fino</a:t>
            </a:r>
            <a:r>
              <a:rPr lang="es-ES" b="1" dirty="0" smtClean="0"/>
              <a:t>): </a:t>
            </a:r>
            <a:r>
              <a:rPr lang="es-ES" dirty="0" smtClean="0"/>
              <a:t>Es </a:t>
            </a:r>
            <a:r>
              <a:rPr lang="es-ES" dirty="0"/>
              <a:t>el proceso de entrenar un modelo de lenguaje ya existente usando datos nuevos o específicos, para que sea mejor en una tarea concreta (por ejemplo, escribir recetas o responder preguntas sobre medicina).</a:t>
            </a:r>
          </a:p>
        </p:txBody>
      </p:sp>
    </p:spTree>
    <p:extLst>
      <p:ext uri="{BB962C8B-B14F-4D97-AF65-F5344CB8AC3E}">
        <p14:creationId xmlns:p14="http://schemas.microsoft.com/office/powerpoint/2010/main" val="3659936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Modelos OPENAI – CAPA GRATUITA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4976949"/>
            <a:ext cx="11029615" cy="1365176"/>
          </a:xfrm>
        </p:spPr>
        <p:txBody>
          <a:bodyPr/>
          <a:lstStyle/>
          <a:p>
            <a:r>
              <a:rPr lang="es-ES" dirty="0"/>
              <a:t>Modelo Razonado: Aplica lógica y análisis de causa y efecto para generar respuestas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Modelo </a:t>
            </a:r>
            <a:r>
              <a:rPr lang="es-ES" dirty="0"/>
              <a:t>No Razonado: Se basa en patrones y ejemplos previos sin realizar un análisis profundo.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87" y="2310469"/>
            <a:ext cx="5703797" cy="1778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4 CuadroTexto"/>
          <p:cNvSpPr txBox="1"/>
          <p:nvPr/>
        </p:nvSpPr>
        <p:spPr>
          <a:xfrm>
            <a:off x="6852745" y="2310469"/>
            <a:ext cx="41620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GPT-5: uno para todos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enrutador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Thinking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Instant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JUCIE</a:t>
            </a:r>
          </a:p>
          <a:p>
            <a:endParaRPr lang="es-E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783" y="2018316"/>
            <a:ext cx="2143200" cy="3058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99907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Interfaz de usuario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80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600" dirty="0"/>
              <a:t>https://chatgpt.com/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58" y="2860767"/>
            <a:ext cx="6345419" cy="381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3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Imagen: crea nuevas imágenes a partir de texto y reconoce imágenes</a:t>
            </a:r>
          </a:p>
          <a:p>
            <a:r>
              <a:rPr lang="es-ES" dirty="0" smtClean="0"/>
              <a:t>Lienzo: Edita tu trabajo por demanda.</a:t>
            </a:r>
          </a:p>
          <a:p>
            <a:r>
              <a:rPr lang="es-ES" dirty="0" smtClean="0"/>
              <a:t>Búsquedas por internet: </a:t>
            </a:r>
            <a:r>
              <a:rPr lang="es-ES" dirty="0" err="1" smtClean="0"/>
              <a:t>Perplexity</a:t>
            </a:r>
            <a:r>
              <a:rPr lang="es-ES" dirty="0" smtClean="0"/>
              <a:t> </a:t>
            </a:r>
            <a:r>
              <a:rPr lang="es-ES" dirty="0" smtClean="0"/>
              <a:t>(</a:t>
            </a:r>
            <a:r>
              <a:rPr lang="es-ES" dirty="0" smtClean="0">
                <a:hlinkClick r:id="rId2"/>
              </a:rPr>
              <a:t>https</a:t>
            </a:r>
            <a:r>
              <a:rPr lang="es-ES" dirty="0">
                <a:hlinkClick r:id="rId2"/>
              </a:rPr>
              <a:t>://</a:t>
            </a:r>
            <a:r>
              <a:rPr lang="es-ES" dirty="0" smtClean="0">
                <a:hlinkClick r:id="rId2"/>
              </a:rPr>
              <a:t>www.perplexity.ai</a:t>
            </a:r>
            <a:r>
              <a:rPr lang="es-ES" dirty="0" smtClean="0"/>
              <a:t>)</a:t>
            </a:r>
          </a:p>
          <a:p>
            <a:r>
              <a:rPr lang="es-ES" dirty="0" smtClean="0"/>
              <a:t>Funciones Avanzadas de voz (</a:t>
            </a:r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instruccions</a:t>
            </a:r>
            <a:r>
              <a:rPr lang="es-ES" dirty="0" smtClean="0"/>
              <a:t>)</a:t>
            </a:r>
          </a:p>
          <a:p>
            <a:r>
              <a:rPr lang="es-ES" dirty="0" smtClean="0"/>
              <a:t>Análisis de </a:t>
            </a:r>
            <a:r>
              <a:rPr lang="es-ES" dirty="0" smtClean="0"/>
              <a:t>datos</a:t>
            </a:r>
          </a:p>
          <a:p>
            <a:r>
              <a:rPr lang="es-ES" dirty="0" smtClean="0"/>
              <a:t>Investigaciones en profundidad</a:t>
            </a: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9088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¿Qué puede hacer?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Lenguaje: texto normal y leguajes </a:t>
            </a:r>
            <a:r>
              <a:rPr lang="es-ES" dirty="0"/>
              <a:t>de reglado (https://codepen.io/)</a:t>
            </a:r>
            <a:endParaRPr lang="es-ES" dirty="0" smtClean="0"/>
          </a:p>
          <a:p>
            <a:r>
              <a:rPr lang="es-ES" dirty="0" smtClean="0"/>
              <a:t>Manipulación de Lenguaje: resumir texto y buscar en </a:t>
            </a:r>
            <a:r>
              <a:rPr lang="es-ES" dirty="0" smtClean="0"/>
              <a:t>ellos</a:t>
            </a:r>
          </a:p>
          <a:p>
            <a:r>
              <a:rPr lang="es-ES" dirty="0" smtClean="0"/>
              <a:t>Resolver problemas de lógica de cierta complejidad.  AGI</a:t>
            </a:r>
            <a:endParaRPr lang="es-ES" dirty="0" smtClean="0"/>
          </a:p>
          <a:p>
            <a:r>
              <a:rPr lang="es-ES" strike="sngStrike" dirty="0" smtClean="0"/>
              <a:t>Lógica básica: resolver acertijos sencillos, pero cuidado!</a:t>
            </a:r>
          </a:p>
          <a:p>
            <a:pPr lvl="2"/>
            <a:r>
              <a:rPr lang="es-ES" dirty="0"/>
              <a:t>Usando solo una vez cada uno de estos números (3, 4, 5, 6), opera con ellos de manera que obtengas </a:t>
            </a:r>
            <a:r>
              <a:rPr lang="es-ES" dirty="0" smtClean="0"/>
              <a:t>24</a:t>
            </a:r>
          </a:p>
          <a:p>
            <a:pPr marL="630000" lvl="2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93617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Limitaciones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68498"/>
          </a:xfrm>
        </p:spPr>
        <p:txBody>
          <a:bodyPr/>
          <a:lstStyle/>
          <a:p>
            <a:r>
              <a:rPr lang="es-ES" b="1" dirty="0"/>
              <a:t>Falta de consistencia</a:t>
            </a:r>
            <a:r>
              <a:rPr lang="es-ES" dirty="0"/>
              <a:t>: Pueden generar respuestas contradictorias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Alucinaciones</a:t>
            </a:r>
            <a:r>
              <a:rPr lang="es-ES" dirty="0"/>
              <a:t>: Generan información incorrecta o inventada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Memoria </a:t>
            </a:r>
            <a:r>
              <a:rPr lang="es-ES" b="1" dirty="0"/>
              <a:t>limitada</a:t>
            </a:r>
            <a:r>
              <a:rPr lang="es-ES" dirty="0"/>
              <a:t>: Solo recuerdan el contexto reciente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Información </a:t>
            </a:r>
            <a:r>
              <a:rPr lang="es-ES" b="1" dirty="0"/>
              <a:t>acotada</a:t>
            </a:r>
            <a:r>
              <a:rPr lang="es-ES" dirty="0"/>
              <a:t>: Su conocimiento tiene una fecha límite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Sesgos </a:t>
            </a:r>
            <a:r>
              <a:rPr lang="es-ES" b="1" dirty="0"/>
              <a:t>inherentes</a:t>
            </a:r>
            <a:r>
              <a:rPr lang="es-ES" dirty="0"/>
              <a:t>: Reflejan los sesgos de sus datos de entrenamiento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Razonamiento </a:t>
            </a:r>
            <a:r>
              <a:rPr lang="es-ES" b="1" dirty="0"/>
              <a:t>limitado</a:t>
            </a:r>
            <a:r>
              <a:rPr lang="es-ES" dirty="0"/>
              <a:t>: Dificultad con la abstracción y el sentido común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Falta </a:t>
            </a:r>
            <a:r>
              <a:rPr lang="es-ES" b="1" dirty="0"/>
              <a:t>de comprensión real</a:t>
            </a:r>
            <a:r>
              <a:rPr lang="es-ES" dirty="0"/>
              <a:t>: Manipulan símbolos, no entienden como humanos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Vulnerabilidad </a:t>
            </a:r>
            <a:r>
              <a:rPr lang="es-ES" b="1" dirty="0"/>
              <a:t>a ataques</a:t>
            </a:r>
            <a:r>
              <a:rPr lang="es-ES" dirty="0"/>
              <a:t>: Se les puede engañar con </a:t>
            </a:r>
            <a:r>
              <a:rPr lang="es-ES" dirty="0" err="1"/>
              <a:t>prompts</a:t>
            </a:r>
            <a:r>
              <a:rPr lang="es-ES" dirty="0"/>
              <a:t> específicos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Poca </a:t>
            </a:r>
            <a:r>
              <a:rPr lang="es-ES" b="1" dirty="0" err="1"/>
              <a:t>interpretabilidad</a:t>
            </a:r>
            <a:r>
              <a:rPr lang="es-ES" dirty="0"/>
              <a:t>: Difícil entender por qué dan ciertas respuestas.</a:t>
            </a:r>
          </a:p>
        </p:txBody>
      </p:sp>
    </p:spTree>
    <p:extLst>
      <p:ext uri="{BB962C8B-B14F-4D97-AF65-F5344CB8AC3E}">
        <p14:creationId xmlns:p14="http://schemas.microsoft.com/office/powerpoint/2010/main" val="2182904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tareas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sz="3600" dirty="0" smtClean="0"/>
              <a:t>¿Qué tipos de tareas podemos automatizar?</a:t>
            </a:r>
          </a:p>
          <a:p>
            <a:r>
              <a:rPr lang="es-ES" dirty="0"/>
              <a:t>Recurrentes: Tareas que se repiten regularmente, como el procesamiento de informes o el envío de correos electrónicos diarios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Sencillas</a:t>
            </a:r>
            <a:r>
              <a:rPr lang="es-ES" dirty="0"/>
              <a:t>: Tareas fáciles de describir y que no requieren de un alto nivel de interpretación humana, como llenar formularios o clasificar datos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Verificables</a:t>
            </a:r>
            <a:r>
              <a:rPr lang="es-ES" dirty="0"/>
              <a:t>: Tareas cuyos resultados pueden ser comprobados de manera objetiva, como la validación de información o la comprobación de errores en un proceso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Todas las tareas deben ser estar bien definidas y estructuradas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71249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 PRINCIPALES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Procesamiento de texto y lenguaje</a:t>
            </a:r>
          </a:p>
          <a:p>
            <a:pPr lvl="1"/>
            <a:r>
              <a:rPr lang="es-ES" dirty="0" smtClean="0"/>
              <a:t>Que genere algo solo</a:t>
            </a:r>
          </a:p>
          <a:p>
            <a:pPr lvl="1"/>
            <a:r>
              <a:rPr lang="es-ES" dirty="0" smtClean="0"/>
              <a:t>Que analice algo y trabaje sobre ello</a:t>
            </a:r>
          </a:p>
          <a:p>
            <a:r>
              <a:rPr lang="es-ES" dirty="0" smtClean="0"/>
              <a:t>Obtener información factual</a:t>
            </a:r>
          </a:p>
          <a:p>
            <a:pPr lvl="1"/>
            <a:r>
              <a:rPr lang="es-ES" dirty="0" smtClean="0"/>
              <a:t>Preguntar por cosas que se supone que ya sabe</a:t>
            </a:r>
          </a:p>
          <a:p>
            <a:pPr lvl="1"/>
            <a:r>
              <a:rPr lang="es-ES" dirty="0" smtClean="0"/>
              <a:t>Cuidado!!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99465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Ejemplo de tareas del DIA a DIA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Redacción de correos</a:t>
            </a:r>
          </a:p>
          <a:p>
            <a:r>
              <a:rPr lang="es-ES" dirty="0" smtClean="0"/>
              <a:t>Aprendizaje por el método socrático</a:t>
            </a:r>
          </a:p>
          <a:p>
            <a:r>
              <a:rPr lang="es-ES" dirty="0" smtClean="0"/>
              <a:t>Tormentas de ideas</a:t>
            </a:r>
          </a:p>
          <a:p>
            <a:r>
              <a:rPr lang="es-ES" dirty="0" smtClean="0"/>
              <a:t>Soporte:  de “ayudante”. Transformar textos.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48699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Como nos relacionamos con </a:t>
            </a:r>
            <a:r>
              <a:rPr lang="es-ES" dirty="0" err="1" smtClean="0"/>
              <a:t>chatgpt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Í</a:t>
            </a:r>
            <a:r>
              <a:rPr lang="es-ES" dirty="0" smtClean="0"/>
              <a:t>NDICE:</a:t>
            </a:r>
          </a:p>
          <a:p>
            <a:pPr lvl="1"/>
            <a:r>
              <a:rPr lang="es-ES" dirty="0" smtClean="0"/>
              <a:t>Fundamentos </a:t>
            </a:r>
            <a:r>
              <a:rPr lang="es-ES" dirty="0"/>
              <a:t>de </a:t>
            </a:r>
            <a:r>
              <a:rPr lang="es-ES" dirty="0" err="1"/>
              <a:t>Prompt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 smtClean="0"/>
          </a:p>
          <a:p>
            <a:pPr lvl="1"/>
            <a:r>
              <a:rPr lang="es-ES" dirty="0" smtClean="0"/>
              <a:t>Especificar un formato optimo para el uso de un </a:t>
            </a:r>
            <a:r>
              <a:rPr lang="es-ES" dirty="0" err="1"/>
              <a:t>Prompt</a:t>
            </a:r>
            <a:endParaRPr lang="es-ES" dirty="0" smtClean="0"/>
          </a:p>
          <a:p>
            <a:pPr lvl="1"/>
            <a:r>
              <a:rPr lang="es-ES" dirty="0" smtClean="0"/>
              <a:t>Tipos de </a:t>
            </a:r>
            <a:r>
              <a:rPr lang="es-ES" dirty="0" err="1"/>
              <a:t>Prompt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29253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</a:t>
            </a:r>
            <a:r>
              <a:rPr lang="es-ES" dirty="0" err="1"/>
              <a:t>Prompt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Zero </a:t>
            </a:r>
            <a:r>
              <a:rPr lang="es-ES" dirty="0" err="1" smtClean="0"/>
              <a:t>shot</a:t>
            </a:r>
            <a:r>
              <a:rPr lang="es-ES" dirty="0" smtClean="0"/>
              <a:t>: no das ningún contexto, preguntas directamente al conocimiento del modelo</a:t>
            </a:r>
          </a:p>
          <a:p>
            <a:r>
              <a:rPr lang="es-ES" dirty="0" err="1" smtClean="0"/>
              <a:t>Few</a:t>
            </a:r>
            <a:r>
              <a:rPr lang="es-ES" dirty="0" smtClean="0"/>
              <a:t> </a:t>
            </a:r>
            <a:r>
              <a:rPr lang="es-ES" dirty="0" err="1" smtClean="0"/>
              <a:t>shot</a:t>
            </a:r>
            <a:r>
              <a:rPr lang="es-ES" dirty="0" smtClean="0"/>
              <a:t>: pides que haga tareas en función de ejemplo ya resueltos.</a:t>
            </a:r>
          </a:p>
          <a:p>
            <a:r>
              <a:rPr lang="es-ES" dirty="0" smtClean="0"/>
              <a:t>Cadenas de pensamiento: especificas que va a pedir las cosas siguiendo unos pasos</a:t>
            </a:r>
          </a:p>
          <a:p>
            <a:r>
              <a:rPr lang="es-ES" dirty="0" smtClean="0"/>
              <a:t>Secuenciación: No hay que pedir todo de golpe.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0525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</a:t>
            </a:r>
            <a:r>
              <a:rPr lang="es-ES" dirty="0" err="1" smtClean="0"/>
              <a:t>prompts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Contexto interno: acotamos el conocimiento que puede tener el modelo</a:t>
            </a:r>
          </a:p>
          <a:p>
            <a:r>
              <a:rPr lang="es-ES" dirty="0" smtClean="0"/>
              <a:t>Contexto externo: le aportamos nuevo conocimiento</a:t>
            </a:r>
          </a:p>
          <a:p>
            <a:r>
              <a:rPr lang="es-ES" dirty="0" smtClean="0"/>
              <a:t>Operativos: usados para controlas que entendió lo que se le pide. [Entendido].</a:t>
            </a:r>
          </a:p>
          <a:p>
            <a:r>
              <a:rPr lang="es-ES" dirty="0" smtClean="0"/>
              <a:t>Resultado: se especifica lo que se quiere.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Lo ideal es que nuestra conversión pase por los cuatro tipos de </a:t>
            </a:r>
            <a:r>
              <a:rPr lang="es-ES" dirty="0" err="1" smtClean="0"/>
              <a:t>prompts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5995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RESUMEN</a:t>
            </a:r>
            <a:endParaRPr lang="es-ES" dirty="0"/>
          </a:p>
        </p:txBody>
      </p:sp>
      <p:pic>
        <p:nvPicPr>
          <p:cNvPr id="1026" name="Picture 2" descr="Image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336" y="1936866"/>
            <a:ext cx="4279674" cy="512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/>
          <p:cNvSpPr txBox="1"/>
          <p:nvPr/>
        </p:nvSpPr>
        <p:spPr>
          <a:xfrm>
            <a:off x="5120640" y="1995055"/>
            <a:ext cx="655874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Meta: el objetivo de lo que se pregunta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Formato de respuesta: forma y </a:t>
            </a:r>
            <a:r>
              <a:rPr lang="es-ES" dirty="0" err="1">
                <a:solidFill>
                  <a:schemeClr val="tx2"/>
                </a:solidFill>
              </a:rPr>
              <a:t>fomato</a:t>
            </a:r>
            <a:endParaRPr lang="es-ES" dirty="0">
              <a:solidFill>
                <a:schemeClr val="tx2"/>
              </a:solidFill>
            </a:endParaRP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Advertencia: énfasis sobre aspecto que evitaran alucinaciones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Contexto Adicional: toda la </a:t>
            </a:r>
            <a:r>
              <a:rPr lang="es-ES" dirty="0" smtClean="0">
                <a:solidFill>
                  <a:schemeClr val="tx2"/>
                </a:solidFill>
              </a:rPr>
              <a:t>información </a:t>
            </a:r>
            <a:r>
              <a:rPr lang="es-ES" dirty="0">
                <a:solidFill>
                  <a:schemeClr val="tx2"/>
                </a:solidFill>
              </a:rPr>
              <a:t>que se pueda agregar de lo que ya se sabe respecto a la pregunta y para que se va usar.</a:t>
            </a:r>
          </a:p>
        </p:txBody>
      </p:sp>
    </p:spTree>
    <p:extLst>
      <p:ext uri="{BB962C8B-B14F-4D97-AF65-F5344CB8AC3E}">
        <p14:creationId xmlns:p14="http://schemas.microsoft.com/office/powerpoint/2010/main" val="4060334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OTROS MODELOS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Gemini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gemini.google.com/app</a:t>
            </a:r>
            <a:endParaRPr lang="es-ES" dirty="0" smtClean="0"/>
          </a:p>
          <a:p>
            <a:r>
              <a:rPr lang="es-ES" dirty="0" err="1" smtClean="0"/>
              <a:t>Deepseek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</a:t>
            </a:r>
            <a:r>
              <a:rPr lang="es-ES" dirty="0" smtClean="0">
                <a:hlinkClick r:id="rId3"/>
              </a:rPr>
              <a:t>chat.deepseek.com</a:t>
            </a:r>
            <a:endParaRPr lang="es-ES" dirty="0" smtClean="0"/>
          </a:p>
          <a:p>
            <a:r>
              <a:rPr lang="es-ES" dirty="0" err="1" smtClean="0"/>
              <a:t>Qwen</a:t>
            </a:r>
            <a:r>
              <a:rPr lang="es-ES" dirty="0"/>
              <a:t>: </a:t>
            </a:r>
            <a:r>
              <a:rPr lang="es-ES" dirty="0">
                <a:hlinkClick r:id="rId4"/>
              </a:rPr>
              <a:t>https://chat.qwen.ai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r>
              <a:rPr lang="es-ES" dirty="0" err="1" smtClean="0"/>
              <a:t>Minimax</a:t>
            </a:r>
            <a:r>
              <a:rPr lang="es-ES" dirty="0" smtClean="0"/>
              <a:t>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://minmax.ai</a:t>
            </a:r>
            <a:r>
              <a:rPr lang="es-ES" dirty="0" smtClean="0">
                <a:hlinkClick r:id="rId5"/>
              </a:rPr>
              <a:t>/</a:t>
            </a:r>
            <a:endParaRPr lang="es-ES" dirty="0" smtClean="0"/>
          </a:p>
          <a:p>
            <a:r>
              <a:rPr lang="es-ES" dirty="0"/>
              <a:t>LLAMA: </a:t>
            </a:r>
            <a:r>
              <a:rPr lang="es-ES" dirty="0">
                <a:hlinkClick r:id="rId6"/>
              </a:rPr>
              <a:t>https://www.meta.ai</a:t>
            </a:r>
            <a:r>
              <a:rPr lang="es-ES" dirty="0" smtClean="0">
                <a:hlinkClick r:id="rId6"/>
              </a:rPr>
              <a:t>/</a:t>
            </a:r>
            <a:endParaRPr lang="es-ES" dirty="0" smtClean="0"/>
          </a:p>
          <a:p>
            <a:r>
              <a:rPr lang="es-ES" dirty="0"/>
              <a:t>Claude: </a:t>
            </a:r>
            <a:r>
              <a:rPr lang="es-ES" dirty="0" smtClean="0">
                <a:hlinkClick r:id="rId7"/>
              </a:rPr>
              <a:t>https</a:t>
            </a:r>
            <a:r>
              <a:rPr lang="es-ES" dirty="0">
                <a:hlinkClick r:id="rId7"/>
              </a:rPr>
              <a:t>://</a:t>
            </a:r>
            <a:r>
              <a:rPr lang="es-ES" dirty="0" smtClean="0">
                <a:hlinkClick r:id="rId7"/>
              </a:rPr>
              <a:t>claude.ai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4211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MAS Herramientas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ZeroGPT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https://www.zerogpt.com/es</a:t>
            </a:r>
            <a:r>
              <a:rPr lang="es-ES" dirty="0" smtClean="0">
                <a:hlinkClick r:id="rId2"/>
              </a:rPr>
              <a:t>/</a:t>
            </a:r>
            <a:endParaRPr lang="es-ES" dirty="0" smtClean="0"/>
          </a:p>
          <a:p>
            <a:r>
              <a:rPr lang="es-ES" dirty="0" err="1"/>
              <a:t>Reescritores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https://hix.ai/es</a:t>
            </a:r>
            <a:r>
              <a:rPr lang="es-ES" dirty="0"/>
              <a:t> y </a:t>
            </a:r>
            <a:r>
              <a:rPr lang="es-ES" dirty="0">
                <a:hlinkClick r:id="rId4"/>
              </a:rPr>
              <a:t>https://www.bypassgpt.ai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r>
              <a:rPr lang="es-ES" dirty="0" smtClean="0"/>
              <a:t>Leonardo: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://leonardo.ai</a:t>
            </a:r>
            <a:r>
              <a:rPr lang="es-ES" dirty="0" smtClean="0">
                <a:hlinkClick r:id="rId5"/>
              </a:rPr>
              <a:t>/</a:t>
            </a:r>
            <a:endParaRPr lang="es-ES" dirty="0" smtClean="0"/>
          </a:p>
          <a:p>
            <a:r>
              <a:rPr lang="es-ES" dirty="0" err="1" smtClean="0"/>
              <a:t>NotebookLM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https://notebooklm.google.com</a:t>
            </a:r>
            <a:r>
              <a:rPr lang="es-ES" dirty="0" smtClean="0">
                <a:hlinkClick r:id="rId6"/>
              </a:rPr>
              <a:t>/</a:t>
            </a:r>
            <a:endParaRPr lang="es-ES" dirty="0" smtClean="0"/>
          </a:p>
          <a:p>
            <a:r>
              <a:rPr lang="es-ES" dirty="0" smtClean="0"/>
              <a:t>Google </a:t>
            </a:r>
            <a:r>
              <a:rPr lang="es-ES" dirty="0"/>
              <a:t>IA Studio: </a:t>
            </a:r>
            <a:r>
              <a:rPr lang="es-ES" dirty="0">
                <a:hlinkClick r:id="rId7"/>
              </a:rPr>
              <a:t>https://aistudio.google.com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Suno</a:t>
            </a:r>
            <a:r>
              <a:rPr lang="es-ES" dirty="0"/>
              <a:t>: </a:t>
            </a:r>
            <a:r>
              <a:rPr lang="es-ES" dirty="0">
                <a:hlinkClick r:id="rId8"/>
              </a:rPr>
              <a:t>https://suno.com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r>
              <a:rPr lang="es-ES" dirty="0"/>
              <a:t>Gamma: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endParaRPr lang="es-ES" dirty="0" smtClean="0"/>
          </a:p>
          <a:p>
            <a:r>
              <a:rPr lang="es-ES" dirty="0" err="1" smtClean="0"/>
              <a:t>Presentations</a:t>
            </a:r>
            <a:r>
              <a:rPr lang="es-ES" dirty="0"/>
              <a:t>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r>
              <a:rPr lang="es-ES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59086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4222</TotalTime>
  <Words>1343</Words>
  <Application>Microsoft Office PowerPoint</Application>
  <PresentationFormat>Personalizado</PresentationFormat>
  <Paragraphs>159</Paragraphs>
  <Slides>26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27" baseType="lpstr">
      <vt:lpstr>Dividendo</vt:lpstr>
      <vt:lpstr>Introducción a LLM (CHATGPT)</vt:lpstr>
      <vt:lpstr>Índice</vt:lpstr>
      <vt:lpstr>Índice</vt:lpstr>
      <vt:lpstr>Presentación del curso</vt:lpstr>
      <vt:lpstr>Definiciones</vt:lpstr>
      <vt:lpstr>Definiciones</vt:lpstr>
      <vt:lpstr>Definiciones</vt:lpstr>
      <vt:lpstr>Definiciones</vt:lpstr>
      <vt:lpstr>¿Como Funcionan?</vt:lpstr>
      <vt:lpstr>Evolución</vt:lpstr>
      <vt:lpstr>Evolución</vt:lpstr>
      <vt:lpstr>Conceptos clave</vt:lpstr>
      <vt:lpstr>Modelos OPENAI – CAPA GRATUITA</vt:lpstr>
      <vt:lpstr>Interfaz de usuario</vt:lpstr>
      <vt:lpstr>Usos</vt:lpstr>
      <vt:lpstr>¿Qué puede hacer?</vt:lpstr>
      <vt:lpstr>Limitaciones</vt:lpstr>
      <vt:lpstr>Tipos de tareas</vt:lpstr>
      <vt:lpstr>USOS PRINCIPALES</vt:lpstr>
      <vt:lpstr>Ejemplo de tareas del DIA a DIA</vt:lpstr>
      <vt:lpstr>Como nos relacionamos con chatgpt</vt:lpstr>
      <vt:lpstr>Fundamentos de Prompt Engineering</vt:lpstr>
      <vt:lpstr>Tipos de prompts</vt:lpstr>
      <vt:lpstr>RESUMEN</vt:lpstr>
      <vt:lpstr>OTROS MODELOS</vt:lpstr>
      <vt:lpstr>MAS Herramientas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chatgpt</dc:title>
  <dc:creator>José Mª Rodríguez Corral</dc:creator>
  <cp:lastModifiedBy>Chema</cp:lastModifiedBy>
  <cp:revision>54</cp:revision>
  <dcterms:created xsi:type="dcterms:W3CDTF">2025-04-22T15:47:07Z</dcterms:created>
  <dcterms:modified xsi:type="dcterms:W3CDTF">2025-10-01T16:38:47Z</dcterms:modified>
</cp:coreProperties>
</file>